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7" r:id="rId1"/>
  </p:sldMasterIdLst>
  <p:notesMasterIdLst>
    <p:notesMasterId r:id="rId13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0" r:id="rId12"/>
  </p:sldIdLst>
  <p:sldSz cx="9144000" cy="5143500" type="screen16x9"/>
  <p:notesSz cx="6858000" cy="9144000"/>
  <p:embeddedFontLst>
    <p:embeddedFont>
      <p:font typeface="Assistant" pitchFamily="2" charset="-79"/>
      <p:regular r:id="rId14"/>
      <p:bold r:id="rId15"/>
    </p:embeddedFon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Georgia" panose="02040502050405020303" pitchFamily="18" charset="0"/>
      <p:regular r:id="rId20"/>
      <p:bold r:id="rId21"/>
      <p:italic r:id="rId22"/>
      <p:boldItalic r:id="rId23"/>
    </p:embeddedFont>
    <p:embeddedFont>
      <p:font typeface="Helvetica" panose="020B0604020202020204" pitchFamily="34" charset="0"/>
      <p:regular r:id="rId24"/>
      <p:bold r:id="rId25"/>
      <p:italic r:id="rId26"/>
      <p:boldItalic r:id="rId27"/>
    </p:embeddedFont>
    <p:embeddedFont>
      <p:font typeface="Segoe UI" panose="020B05020402040202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942C4A-4D18-4393-9149-E80A4B0EEEDE}" v="49" dt="2026-05-30T14:59:42.704"/>
    <p1510:client id="{CA7BE2E3-B42C-4232-A093-254384B17821}" v="1076" dt="2026-05-31T11:16:50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A29C19F9-A4C9-9FB2-A55B-ED054529B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c4c154d14_0_25:notes">
            <a:extLst>
              <a:ext uri="{FF2B5EF4-FFF2-40B4-BE49-F238E27FC236}">
                <a16:creationId xmlns:a16="http://schemas.microsoft.com/office/drawing/2014/main" id="{269443B6-956C-E559-9FD3-081711E08C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c4c154d14_0_25:notes">
            <a:extLst>
              <a:ext uri="{FF2B5EF4-FFF2-40B4-BE49-F238E27FC236}">
                <a16:creationId xmlns:a16="http://schemas.microsoft.com/office/drawing/2014/main" id="{790F8C98-B9E5-2313-36B6-18F26F0BC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758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641738EF-F376-3779-BB14-A7702DBB6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c4c154d14_0_25:notes">
            <a:extLst>
              <a:ext uri="{FF2B5EF4-FFF2-40B4-BE49-F238E27FC236}">
                <a16:creationId xmlns:a16="http://schemas.microsoft.com/office/drawing/2014/main" id="{335E5812-668E-8E57-4D6D-3B98B3EBCB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c4c154d14_0_25:notes">
            <a:extLst>
              <a:ext uri="{FF2B5EF4-FFF2-40B4-BE49-F238E27FC236}">
                <a16:creationId xmlns:a16="http://schemas.microsoft.com/office/drawing/2014/main" id="{E5AF0E23-1515-7BE1-0E93-D969F2FE8D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9553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438ADF91-18C1-811F-7400-A79062239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c4c154d14_0_25:notes">
            <a:extLst>
              <a:ext uri="{FF2B5EF4-FFF2-40B4-BE49-F238E27FC236}">
                <a16:creationId xmlns:a16="http://schemas.microsoft.com/office/drawing/2014/main" id="{85FA8192-8A61-F47D-D895-97E442DA8B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c4c154d14_0_25:notes">
            <a:extLst>
              <a:ext uri="{FF2B5EF4-FFF2-40B4-BE49-F238E27FC236}">
                <a16:creationId xmlns:a16="http://schemas.microsoft.com/office/drawing/2014/main" id="{74F04A81-9079-192E-6BF6-61C8ADB8BC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4005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16F13E24-3600-7719-C890-141316753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c4c154d14_0_25:notes">
            <a:extLst>
              <a:ext uri="{FF2B5EF4-FFF2-40B4-BE49-F238E27FC236}">
                <a16:creationId xmlns:a16="http://schemas.microsoft.com/office/drawing/2014/main" id="{B459A369-17BE-F3C8-98D1-5A8819FDEB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c4c154d14_0_25:notes">
            <a:extLst>
              <a:ext uri="{FF2B5EF4-FFF2-40B4-BE49-F238E27FC236}">
                <a16:creationId xmlns:a16="http://schemas.microsoft.com/office/drawing/2014/main" id="{B8C9E9B9-BF09-489C-5372-1C81976DF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4242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A80A83F4-098C-2E2A-5669-B2097BAC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c4c154d14_0_25:notes">
            <a:extLst>
              <a:ext uri="{FF2B5EF4-FFF2-40B4-BE49-F238E27FC236}">
                <a16:creationId xmlns:a16="http://schemas.microsoft.com/office/drawing/2014/main" id="{4F143136-3F9C-80CA-9F35-49C24A558E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c4c154d14_0_25:notes">
            <a:extLst>
              <a:ext uri="{FF2B5EF4-FFF2-40B4-BE49-F238E27FC236}">
                <a16:creationId xmlns:a16="http://schemas.microsoft.com/office/drawing/2014/main" id="{F71A241A-B5F3-AEC3-75F2-05304044B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4803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B1517DF9-9E18-A736-28B5-67F0AD4F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c4c154d14_0_25:notes">
            <a:extLst>
              <a:ext uri="{FF2B5EF4-FFF2-40B4-BE49-F238E27FC236}">
                <a16:creationId xmlns:a16="http://schemas.microsoft.com/office/drawing/2014/main" id="{39DDAE2C-A6E2-0FA7-C667-664970FA1C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c4c154d14_0_25:notes">
            <a:extLst>
              <a:ext uri="{FF2B5EF4-FFF2-40B4-BE49-F238E27FC236}">
                <a16:creationId xmlns:a16="http://schemas.microsoft.com/office/drawing/2014/main" id="{FC0A276C-48BA-B760-302C-85373C964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866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616E6194-6F10-FF39-7826-F9D1C8D5A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c4c154d14_0_25:notes">
            <a:extLst>
              <a:ext uri="{FF2B5EF4-FFF2-40B4-BE49-F238E27FC236}">
                <a16:creationId xmlns:a16="http://schemas.microsoft.com/office/drawing/2014/main" id="{8498168A-EAAA-2BB7-BD31-E09B73B962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c4c154d14_0_25:notes">
            <a:extLst>
              <a:ext uri="{FF2B5EF4-FFF2-40B4-BE49-F238E27FC236}">
                <a16:creationId xmlns:a16="http://schemas.microsoft.com/office/drawing/2014/main" id="{8BA415F8-95EB-8D57-67CF-E4DF6F1749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400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46FEA718-FA6E-FB88-2BA9-1B3A5DE80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c4c154d14_0_25:notes">
            <a:extLst>
              <a:ext uri="{FF2B5EF4-FFF2-40B4-BE49-F238E27FC236}">
                <a16:creationId xmlns:a16="http://schemas.microsoft.com/office/drawing/2014/main" id="{55A4C2D4-3402-AD6F-C9FA-6F3FED4894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c4c154d14_0_25:notes">
            <a:extLst>
              <a:ext uri="{FF2B5EF4-FFF2-40B4-BE49-F238E27FC236}">
                <a16:creationId xmlns:a16="http://schemas.microsoft.com/office/drawing/2014/main" id="{3DC25B23-67CD-7C0E-406A-9D86EC4E70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3350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311726" y="342910"/>
            <a:ext cx="2560425" cy="520904"/>
            <a:chOff x="311726" y="342910"/>
            <a:chExt cx="2560425" cy="520904"/>
          </a:xfrm>
        </p:grpSpPr>
        <p:sp>
          <p:nvSpPr>
            <p:cNvPr id="17" name="Google Shape;17;p2"/>
            <p:cNvSpPr/>
            <p:nvPr/>
          </p:nvSpPr>
          <p:spPr>
            <a:xfrm>
              <a:off x="311726" y="342910"/>
              <a:ext cx="2560425" cy="5209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 rotWithShape="1">
            <a:blip r:embed="rId2">
              <a:alphaModFix/>
            </a:blip>
            <a:srcRect l="377" r="387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Google Shape;25;p2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lang="en" sz="1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>
  <p:cSld name="SECTION_HEADER">
    <p:bg>
      <p:bgPr>
        <a:noFill/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2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1" name="Google Shape;51;p7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lang="en" sz="1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53" name="Google Shape;53;p7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7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55" name="Google Shape;55;p7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" name="Google Shape;56;p7"/>
            <p:cNvPicPr preferRelativeResize="0"/>
            <p:nvPr/>
          </p:nvPicPr>
          <p:blipFill rotWithShape="1">
            <a:blip r:embed="rId2">
              <a:alphaModFix/>
            </a:blip>
            <a:srcRect l="377" r="387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bg>
      <p:bgPr>
        <a:noFill/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8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noFill/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9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x">
  <p:cSld name="TITLE_AND_BOD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1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1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1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2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2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2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1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2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_NUMBER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 hasCustomPrompt="1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_NUMBER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title" idx="2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3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title" idx="4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5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and contact">
  <p:cSld name="MAIN_POINT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23" name="Google Shape;123;p20"/>
          <p:cNvGrpSpPr/>
          <p:nvPr/>
        </p:nvGrpSpPr>
        <p:grpSpPr>
          <a:xfrm rot="2700000">
            <a:off x="585683" y="481417"/>
            <a:ext cx="694882" cy="564848"/>
            <a:chOff x="919500" y="1916075"/>
            <a:chExt cx="1067700" cy="867900"/>
          </a:xfrm>
        </p:grpSpPr>
        <p:sp>
          <p:nvSpPr>
            <p:cNvPr id="124" name="Google Shape;124;p20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0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20"/>
          <p:cNvGrpSpPr/>
          <p:nvPr/>
        </p:nvGrpSpPr>
        <p:grpSpPr>
          <a:xfrm rot="8100000">
            <a:off x="7746888" y="3437645"/>
            <a:ext cx="912919" cy="742084"/>
            <a:chOff x="521400" y="3135325"/>
            <a:chExt cx="1067700" cy="867900"/>
          </a:xfrm>
        </p:grpSpPr>
        <p:sp>
          <p:nvSpPr>
            <p:cNvPr id="127" name="Google Shape;127;p20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sz="28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8458848" y="343116"/>
            <a:ext cx="381224" cy="576102"/>
            <a:chOff x="8458848" y="343116"/>
            <a:chExt cx="381224" cy="576102"/>
          </a:xfrm>
        </p:grpSpPr>
        <p:sp>
          <p:nvSpPr>
            <p:cNvPr id="10" name="Google Shape;10;p1"/>
            <p:cNvSpPr/>
            <p:nvPr/>
          </p:nvSpPr>
          <p:spPr>
            <a:xfrm>
              <a:off x="8458848" y="343116"/>
              <a:ext cx="381224" cy="57610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Google Shape;11;p1"/>
            <p:cNvPicPr preferRelativeResize="0"/>
            <p:nvPr/>
          </p:nvPicPr>
          <p:blipFill rotWithShape="1">
            <a:blip r:embed="rId21">
              <a:alphaModFix/>
            </a:blip>
            <a:srcRect l="79" r="79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subTitle" idx="1"/>
          </p:nvPr>
        </p:nvSpPr>
        <p:spPr>
          <a:xfrm>
            <a:off x="142625" y="1535250"/>
            <a:ext cx="64008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80000"/>
              </a:lnSpc>
            </a:pPr>
            <a:r>
              <a:rPr lang="en-US" sz="3600">
                <a:solidFill>
                  <a:schemeClr val="accent3">
                    <a:lumMod val="25000"/>
                  </a:schemeClr>
                </a:solidFill>
                <a:latin typeface="Century Gothic"/>
                <a:cs typeface="Arial"/>
                <a:sym typeface="Arial"/>
              </a:rPr>
              <a:t>Data Analytics Project</a:t>
            </a:r>
            <a:endParaRPr lang="en-US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135" name="Google Shape;135;p2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29" y="3024490"/>
            <a:ext cx="748807" cy="78337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291308" y="4133494"/>
            <a:ext cx="2231364" cy="62790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80000"/>
              </a:lnSpc>
            </a:pPr>
            <a:r>
              <a:rPr lang="en" sz="1800" b="1">
                <a:solidFill>
                  <a:schemeClr val="accent2">
                    <a:lumMod val="76000"/>
                  </a:schemeClr>
                </a:solidFill>
              </a:rPr>
              <a:t>ASWATHI S NAIR</a:t>
            </a:r>
            <a:endParaRPr lang="en-US" sz="1800" b="1">
              <a:solidFill>
                <a:schemeClr val="accent2">
                  <a:lumMod val="76000"/>
                </a:schemeClr>
              </a:solidFill>
              <a:cs typeface="Arial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2">
                    <a:lumMod val="76000"/>
                  </a:schemeClr>
                </a:solidFill>
              </a:rPr>
              <a:t>2026</a:t>
            </a:r>
            <a:endParaRPr sz="1800" b="1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1249F-41BC-C507-F01B-051A2C410D06}"/>
              </a:ext>
            </a:extLst>
          </p:cNvPr>
          <p:cNvSpPr txBox="1"/>
          <p:nvPr/>
        </p:nvSpPr>
        <p:spPr>
          <a:xfrm>
            <a:off x="1017551" y="2376604"/>
            <a:ext cx="6398011" cy="7694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>
                <a:solidFill>
                  <a:schemeClr val="accent2">
                    <a:lumMod val="76000"/>
                  </a:schemeClr>
                </a:solidFill>
                <a:latin typeface="Segoe UI"/>
                <a:ea typeface="Segoe UI"/>
                <a:cs typeface="Segoe UI"/>
              </a:rPr>
              <a:t>THE GLOBAL EV EVOLUTION ( 2010-2025 ) </a:t>
            </a:r>
            <a:endParaRPr lang="en-US" sz="2400">
              <a:solidFill>
                <a:schemeClr val="accent2">
                  <a:lumMod val="76000"/>
                </a:schemeClr>
              </a:solidFill>
            </a:endParaRPr>
          </a:p>
          <a:p>
            <a:pPr algn="ctr"/>
            <a:endParaRPr 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6B33D-07DE-89C6-FB1D-212CC8EE4D9D}"/>
              </a:ext>
            </a:extLst>
          </p:cNvPr>
          <p:cNvSpPr txBox="1"/>
          <p:nvPr/>
        </p:nvSpPr>
        <p:spPr>
          <a:xfrm>
            <a:off x="1054719" y="2808714"/>
            <a:ext cx="592408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0" i="0" u="none" strike="noStrike" baseline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Analyzing Evolution of Electric Mobility </a:t>
            </a:r>
            <a:r>
              <a:rPr lang="en-US" sz="160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and Future</a:t>
            </a:r>
            <a:r>
              <a:rPr lang="en-US" sz="1600" b="0" i="0" u="none" strike="noStrike" baseline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Adoption Projections</a:t>
            </a:r>
            <a:endParaRPr lang="en-US" sz="1600">
              <a:solidFill>
                <a:schemeClr val="tx1"/>
              </a:solidFill>
            </a:endParaRPr>
          </a:p>
          <a:p>
            <a:pPr algn="ctr"/>
            <a:endParaRPr lang="en-US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A4F9B0-E53F-3F3C-9A7C-0C5F010D2528}"/>
              </a:ext>
            </a:extLst>
          </p:cNvPr>
          <p:cNvSpPr/>
          <p:nvPr/>
        </p:nvSpPr>
        <p:spPr>
          <a:xfrm>
            <a:off x="2695790" y="4128896"/>
            <a:ext cx="1354615" cy="6328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508479-4D54-3670-3E06-C0573BC21F67}"/>
              </a:ext>
            </a:extLst>
          </p:cNvPr>
          <p:cNvSpPr txBox="1"/>
          <p:nvPr/>
        </p:nvSpPr>
        <p:spPr>
          <a:xfrm>
            <a:off x="3195438" y="4183325"/>
            <a:ext cx="4246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C000"/>
                </a:solidFill>
              </a:rPr>
              <a:t>15</a:t>
            </a:r>
            <a:r>
              <a:rPr lang="en-US" dirty="0">
                <a:solidFill>
                  <a:srgbClr val="FFC000"/>
                </a:solidFill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0AD2FB-8454-F018-E2FC-3E3C073F5344}"/>
              </a:ext>
            </a:extLst>
          </p:cNvPr>
          <p:cNvSpPr txBox="1"/>
          <p:nvPr/>
        </p:nvSpPr>
        <p:spPr>
          <a:xfrm>
            <a:off x="3011243" y="4444226"/>
            <a:ext cx="904211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/>
              <a:t>Years of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D4C81B-6C8A-D81F-8CBE-F99DB5470B7F}"/>
              </a:ext>
            </a:extLst>
          </p:cNvPr>
          <p:cNvSpPr/>
          <p:nvPr/>
        </p:nvSpPr>
        <p:spPr>
          <a:xfrm>
            <a:off x="4089692" y="4128895"/>
            <a:ext cx="1178054" cy="6328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64A58-A553-E2B7-1999-060098410FA1}"/>
              </a:ext>
            </a:extLst>
          </p:cNvPr>
          <p:cNvSpPr txBox="1"/>
          <p:nvPr/>
        </p:nvSpPr>
        <p:spPr>
          <a:xfrm>
            <a:off x="4384901" y="4183324"/>
            <a:ext cx="52689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C000"/>
                </a:solidFill>
              </a:rPr>
              <a:t>50+</a:t>
            </a:r>
            <a:r>
              <a:rPr lang="en-US" dirty="0">
                <a:solidFill>
                  <a:srgbClr val="FFC000"/>
                </a:solidFill>
              </a:rPr>
              <a:t>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C23816-FA54-9215-CE89-40086F973DCA}"/>
              </a:ext>
            </a:extLst>
          </p:cNvPr>
          <p:cNvSpPr txBox="1"/>
          <p:nvPr/>
        </p:nvSpPr>
        <p:spPr>
          <a:xfrm>
            <a:off x="4200706" y="4444225"/>
            <a:ext cx="904211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/>
              <a:t>   Countries</a:t>
            </a:r>
            <a:endParaRPr lang="en-US" sz="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FBC082-319B-18E0-7B17-1058AA145C3D}"/>
              </a:ext>
            </a:extLst>
          </p:cNvPr>
          <p:cNvSpPr/>
          <p:nvPr/>
        </p:nvSpPr>
        <p:spPr>
          <a:xfrm>
            <a:off x="5307033" y="4133542"/>
            <a:ext cx="1289567" cy="628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C79288-6152-4959-8AA2-D293BDE86567}"/>
              </a:ext>
            </a:extLst>
          </p:cNvPr>
          <p:cNvSpPr txBox="1"/>
          <p:nvPr/>
        </p:nvSpPr>
        <p:spPr>
          <a:xfrm>
            <a:off x="5572125" y="4182661"/>
            <a:ext cx="96635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C000"/>
                </a:solidFill>
              </a:rPr>
              <a:t>IEA 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B40C5E-CEAF-9483-90C9-B05E230CD1CA}"/>
              </a:ext>
            </a:extLst>
          </p:cNvPr>
          <p:cNvSpPr txBox="1"/>
          <p:nvPr/>
        </p:nvSpPr>
        <p:spPr>
          <a:xfrm>
            <a:off x="5603900" y="4439578"/>
            <a:ext cx="904211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/>
              <a:t>Data Source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7892" y="3833495"/>
            <a:ext cx="2134414" cy="82901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1084875" y="3356675"/>
            <a:ext cx="58224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/>
          <p:cNvSpPr txBox="1">
            <a:spLocks noGrp="1"/>
          </p:cNvSpPr>
          <p:nvPr>
            <p:ph type="title"/>
          </p:nvPr>
        </p:nvSpPr>
        <p:spPr>
          <a:xfrm>
            <a:off x="2811200" y="452075"/>
            <a:ext cx="2603100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br>
              <a:rPr lang="en" sz="1350" b="0" dirty="0">
                <a:latin typeface="Arial"/>
                <a:ea typeface="Arial"/>
                <a:cs typeface="Arial"/>
              </a:rPr>
            </a:br>
            <a:br>
              <a:rPr lang="en" sz="1350" b="0" dirty="0">
                <a:latin typeface="Arial"/>
                <a:ea typeface="Arial"/>
                <a:cs typeface="Arial"/>
              </a:rPr>
            </a:br>
            <a:endParaRPr sz="139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39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256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C00DC7-6A6F-882B-7B57-A554E51ADAFB}"/>
              </a:ext>
            </a:extLst>
          </p:cNvPr>
          <p:cNvSpPr txBox="1"/>
          <p:nvPr/>
        </p:nvSpPr>
        <p:spPr>
          <a:xfrm>
            <a:off x="704170" y="806223"/>
            <a:ext cx="6582454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accent3">
                    <a:lumMod val="25000"/>
                  </a:schemeClr>
                </a:solidFill>
                <a:latin typeface="Century Gothic"/>
                <a:sym typeface="Assistant"/>
              </a:rPr>
              <a:t>Problem</a:t>
            </a:r>
            <a:r>
              <a:rPr lang="en-US" sz="2400" dirty="0">
                <a:solidFill>
                  <a:schemeClr val="accent3">
                    <a:lumMod val="25000"/>
                  </a:schemeClr>
                </a:solidFill>
                <a:latin typeface="Century Gothic"/>
                <a:sym typeface="Assistant"/>
              </a:rPr>
              <a:t> </a:t>
            </a:r>
            <a:r>
              <a:rPr lang="en-US" sz="2400">
                <a:solidFill>
                  <a:schemeClr val="accent3">
                    <a:lumMod val="25000"/>
                  </a:schemeClr>
                </a:solidFill>
                <a:latin typeface="Century Gothic"/>
                <a:sym typeface="Assistant"/>
              </a:rPr>
              <a:t>Statement &amp; Dataset</a:t>
            </a:r>
            <a:endParaRPr lang="en-US" sz="2400">
              <a:solidFill>
                <a:schemeClr val="accent3">
                  <a:lumMod val="25000"/>
                </a:schemeClr>
              </a:solidFill>
              <a:latin typeface="Century Gothic"/>
            </a:endParaRPr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0F148-1678-AEFC-7D70-287046588AC6}"/>
              </a:ext>
            </a:extLst>
          </p:cNvPr>
          <p:cNvSpPr txBox="1"/>
          <p:nvPr/>
        </p:nvSpPr>
        <p:spPr>
          <a:xfrm>
            <a:off x="744991" y="1484879"/>
            <a:ext cx="4572000" cy="32624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How has global EV adoption evolved from 2010 to 2025, and which countries, vehicle types, and regions are leading the transition?</a:t>
            </a:r>
          </a:p>
          <a:p>
            <a:pPr algn="l"/>
            <a:endParaRPr lang="en-US" b="0" dirty="0">
              <a:solidFill>
                <a:srgbClr val="0C141F"/>
              </a:solidFill>
              <a:latin typeface="Georgia"/>
              <a:ea typeface="Helvetica"/>
              <a:cs typeface="Helvetica"/>
            </a:endParaRPr>
          </a:p>
          <a:p>
            <a:r>
              <a:rPr lang="en-US" b="1">
                <a:solidFill>
                  <a:srgbClr val="0C141F"/>
                </a:solidFill>
                <a:latin typeface="Helvetica"/>
                <a:ea typeface="Helvetica"/>
                <a:cs typeface="Helvetica"/>
              </a:rPr>
              <a:t>Questions ? :</a:t>
            </a:r>
          </a:p>
          <a:p>
            <a:pPr marL="285750" indent="-285750">
              <a:buFont typeface="Wingdings"/>
              <a:buChar char="Ø"/>
            </a:pPr>
            <a:endParaRPr lang="en-US" b="1" dirty="0">
              <a:solidFill>
                <a:srgbClr val="0C141F"/>
              </a:solidFill>
              <a:latin typeface="Helvetica"/>
              <a:ea typeface="Calibri"/>
              <a:cs typeface="Helvetica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How fast is the global EV is growing?</a:t>
            </a: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Which countries lead EV sales in 2025?</a:t>
            </a:r>
          </a:p>
          <a:p>
            <a:pPr marL="171450" indent="-171450" algn="l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BEV vs PHEV — which is winning?</a:t>
            </a:r>
          </a:p>
          <a:p>
            <a:pPr marL="171450" indent="-171450" algn="l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Is charging infrastructure keeping up?</a:t>
            </a:r>
          </a:p>
          <a:p>
            <a:pPr marL="171450" indent="-171450" algn="l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What does 2035 look like?</a:t>
            </a:r>
          </a:p>
          <a:p>
            <a:pPr marL="171450" indent="-171450">
              <a:buFont typeface="Wingdings"/>
              <a:buChar char="Ø"/>
            </a:pP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>
                <a:solidFill>
                  <a:schemeClr val="tx1"/>
                </a:solidFill>
                <a:ea typeface="Calibri"/>
              </a:rPr>
              <a:t>Which vehicle segment leads the market across nations</a:t>
            </a: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? </a:t>
            </a:r>
          </a:p>
          <a:p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 sz="1200" dirty="0">
              <a:latin typeface="Segoe UI"/>
              <a:cs typeface="Segoe UI"/>
            </a:endParaRP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2EB07D-54C8-4B56-4329-189508164453}"/>
              </a:ext>
            </a:extLst>
          </p:cNvPr>
          <p:cNvSpPr txBox="1"/>
          <p:nvPr/>
        </p:nvSpPr>
        <p:spPr>
          <a:xfrm>
            <a:off x="5558173" y="1042210"/>
            <a:ext cx="3238842" cy="28084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C141F"/>
                </a:solidFill>
                <a:latin typeface="Helvetica"/>
                <a:cs typeface="Helvetica"/>
              </a:rPr>
              <a:t>Dataset</a:t>
            </a:r>
          </a:p>
          <a:p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Source : </a:t>
            </a: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International Energy Agency (IEA)</a:t>
            </a:r>
          </a:p>
          <a:p>
            <a:r>
              <a:rPr lang="en-US" b="1">
                <a:solidFill>
                  <a:srgbClr val="0C141F"/>
                </a:solidFill>
                <a:latin typeface="Helvetica"/>
                <a:cs typeface="Helvetica"/>
              </a:rPr>
              <a:t>Data Coverage </a:t>
            </a:r>
          </a:p>
          <a:p>
            <a:pPr marL="171450" indent="-171450">
              <a:buFont typeface="Wingdings"/>
              <a:buChar char="Ø"/>
            </a:pPr>
            <a:r>
              <a:rPr lang="en-US" sz="1050">
                <a:solidFill>
                  <a:schemeClr val="tx1"/>
                </a:solidFill>
                <a:latin typeface="Segoe UI"/>
                <a:cs typeface="Segoe UI"/>
              </a:rPr>
              <a:t>50 + Countries</a:t>
            </a:r>
          </a:p>
          <a:p>
            <a:pPr marL="171450" indent="-171450">
              <a:buFont typeface="Wingdings"/>
              <a:buChar char="Ø"/>
            </a:pPr>
            <a:r>
              <a:rPr lang="en-US" sz="1050">
                <a:solidFill>
                  <a:schemeClr val="tx1"/>
                </a:solidFill>
                <a:latin typeface="Segoe UI"/>
                <a:cs typeface="Segoe UI"/>
              </a:rPr>
              <a:t>Years  2010- 2035</a:t>
            </a:r>
          </a:p>
          <a:p>
            <a:pPr marL="171450" indent="-171450">
              <a:buFont typeface="Wingdings"/>
              <a:buChar char="Ø"/>
            </a:pPr>
            <a:r>
              <a:rPr lang="en-US" sz="1050">
                <a:solidFill>
                  <a:schemeClr val="tx1"/>
                </a:solidFill>
                <a:latin typeface="Segoe UI"/>
                <a:cs typeface="Segoe UI"/>
              </a:rPr>
              <a:t>Vehicle types : Cars, Buses, Trucks, Vans, 2/3-wheelers</a:t>
            </a:r>
          </a:p>
          <a:p>
            <a:pPr marL="171450" indent="-171450">
              <a:buFont typeface="Wingdings"/>
              <a:buChar char="Ø"/>
            </a:pPr>
            <a:r>
              <a:rPr lang="en-US" sz="1050">
                <a:solidFill>
                  <a:schemeClr val="tx1"/>
                </a:solidFill>
                <a:latin typeface="Segoe UI"/>
                <a:cs typeface="Segoe UI"/>
              </a:rPr>
              <a:t>Powertrains: BEV, PHEV, EV (combined)</a:t>
            </a:r>
          </a:p>
          <a:p>
            <a:pPr marL="171450" indent="-171450">
              <a:buFont typeface="Wingdings"/>
              <a:buChar char="Ø"/>
            </a:pPr>
            <a:r>
              <a:rPr lang="en-US" sz="1050">
                <a:solidFill>
                  <a:schemeClr val="tx1"/>
                </a:solidFill>
                <a:latin typeface="Segoe UI"/>
                <a:cs typeface="Segoe UI"/>
              </a:rPr>
              <a:t>Metrics: Stock, Sales, Charging Points, Market Share</a:t>
            </a:r>
          </a:p>
          <a:p>
            <a:r>
              <a:rPr lang="en-US" b="1">
                <a:solidFill>
                  <a:srgbClr val="0C141F"/>
                </a:solidFill>
                <a:latin typeface="Helvetica"/>
                <a:cs typeface="Helvetica"/>
              </a:rPr>
              <a:t>Why this dataset</a:t>
            </a:r>
            <a:endParaRPr lang="en-US" dirty="0"/>
          </a:p>
          <a:p>
            <a:r>
              <a:rPr lang="en-US" sz="1050" dirty="0">
                <a:solidFill>
                  <a:schemeClr val="tx1"/>
                </a:solidFill>
                <a:latin typeface="Segoe UI"/>
                <a:cs typeface="Segoe UI"/>
              </a:rPr>
              <a:t>I used to work in the automotive Industry I saw EVs becoming a big deal but never knew how big </a:t>
            </a:r>
            <a:r>
              <a:rPr lang="en-US" sz="1050">
                <a:solidFill>
                  <a:schemeClr val="tx1"/>
                </a:solidFill>
                <a:latin typeface="Segoe UI"/>
                <a:cs typeface="Segoe UI"/>
              </a:rPr>
              <a:t>globally — so I used this data to find out.</a:t>
            </a:r>
            <a:endParaRPr lang="en-US">
              <a:solidFill>
                <a:srgbClr val="0C141F"/>
              </a:solidFill>
            </a:endParaRPr>
          </a:p>
          <a:p>
            <a:endParaRPr lang="en-US" b="1" dirty="0">
              <a:solidFill>
                <a:srgbClr val="0C141F"/>
              </a:solidFill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4C8EC216-9FB7-DAA2-7851-CDA6CE8D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>
            <a:extLst>
              <a:ext uri="{FF2B5EF4-FFF2-40B4-BE49-F238E27FC236}">
                <a16:creationId xmlns:a16="http://schemas.microsoft.com/office/drawing/2014/main" id="{FD5F7433-00B7-4BB0-F5AD-9F71643259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F416B0-D48B-6DD6-B2BB-8776ED8CFA0C}"/>
              </a:ext>
            </a:extLst>
          </p:cNvPr>
          <p:cNvSpPr txBox="1"/>
          <p:nvPr/>
        </p:nvSpPr>
        <p:spPr>
          <a:xfrm>
            <a:off x="332354" y="344261"/>
            <a:ext cx="5924550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1C4553"/>
                </a:solidFill>
                <a:latin typeface="Century Gothic"/>
                <a:ea typeface="Segoe UI"/>
                <a:cs typeface="Segoe UI"/>
              </a:rPr>
              <a:t>1) Total Global Ev growth(2020-2025)</a:t>
            </a:r>
            <a:endParaRPr lang="en-US" sz="2400" b="0" i="0">
              <a:solidFill>
                <a:srgbClr val="1C4553"/>
              </a:solidFill>
              <a:latin typeface="Century Gothic"/>
              <a:ea typeface="Segoe UI"/>
              <a:cs typeface="Segoe UI"/>
            </a:endParaRPr>
          </a:p>
          <a:p>
            <a:pPr algn="l" rtl="0"/>
            <a:r>
              <a:rPr lang="en-US" sz="1400" b="0" i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960F3F-FB5B-18A6-AF0D-C3F44052492E}"/>
              </a:ext>
            </a:extLst>
          </p:cNvPr>
          <p:cNvSpPr/>
          <p:nvPr/>
        </p:nvSpPr>
        <p:spPr>
          <a:xfrm>
            <a:off x="5735410" y="1112159"/>
            <a:ext cx="2727650" cy="37942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CD5F1-CB22-F292-D92C-9E01B9ABE7C7}"/>
              </a:ext>
            </a:extLst>
          </p:cNvPr>
          <p:cNvSpPr txBox="1"/>
          <p:nvPr/>
        </p:nvSpPr>
        <p:spPr>
          <a:xfrm>
            <a:off x="5733585" y="1609958"/>
            <a:ext cx="2611246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C141F"/>
                </a:solidFill>
                <a:latin typeface="Helvetica"/>
                <a:cs typeface="Helvetica"/>
              </a:rPr>
              <a:t>Exponential growth</a:t>
            </a:r>
          </a:p>
          <a:p>
            <a:pPr marL="171450" indent="-171450">
              <a:buFont typeface="Wingdings"/>
              <a:buChar char="Ø"/>
            </a:pP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EV doubled roughly every 2 years from 2018 onward. 167.4M Ev's on road</a:t>
            </a:r>
          </a:p>
          <a:p>
            <a:endParaRPr lang="en-US"/>
          </a:p>
          <a:p>
            <a:r>
              <a:rPr lang="en-US" b="1">
                <a:solidFill>
                  <a:srgbClr val="0C141F"/>
                </a:solidFill>
                <a:latin typeface="Helvetica"/>
                <a:cs typeface="Helvetica"/>
              </a:rPr>
              <a:t>Slow start</a:t>
            </a:r>
          </a:p>
          <a:p>
            <a:pPr marL="171450" indent="-171450">
              <a:buFont typeface="Wingdings"/>
              <a:buChar char="Ø"/>
            </a:pP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Under 1M vehicles globally until 2014. </a:t>
            </a: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Early adoption was not there.</a:t>
            </a:r>
          </a:p>
          <a:p>
            <a:endParaRPr lang="en-US"/>
          </a:p>
          <a:p>
            <a:r>
              <a:rPr lang="en-US" b="1">
                <a:solidFill>
                  <a:srgbClr val="0C141F"/>
                </a:solidFill>
                <a:latin typeface="Helvetica"/>
                <a:cs typeface="Helvetica"/>
              </a:rPr>
              <a:t>Post-2020 surge</a:t>
            </a: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COVID policy recovery + subsidies drove massive acceleration.</a:t>
            </a:r>
          </a:p>
          <a:p>
            <a:endParaRPr lang="en-US"/>
          </a:p>
          <a:p>
            <a:r>
              <a:rPr lang="en-US" b="1">
                <a:solidFill>
                  <a:srgbClr val="0C141F"/>
                </a:solidFill>
                <a:latin typeface="Helvetica"/>
                <a:cs typeface="Helvetica"/>
              </a:rPr>
              <a:t>2025 milestone</a:t>
            </a: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~75 million </a:t>
            </a: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EV Cars on the road worldwide.</a:t>
            </a: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C6295-458B-1C8A-5DFD-07FFCBD72AD1}"/>
              </a:ext>
            </a:extLst>
          </p:cNvPr>
          <p:cNvSpPr txBox="1"/>
          <p:nvPr/>
        </p:nvSpPr>
        <p:spPr>
          <a:xfrm>
            <a:off x="6024313" y="1185854"/>
            <a:ext cx="160734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2">
                    <a:lumMod val="76000"/>
                  </a:schemeClr>
                </a:solidFill>
              </a:rPr>
              <a:t> Key Insights</a:t>
            </a:r>
            <a:endParaRPr lang="en-US" dirty="0">
              <a:solidFill>
                <a:schemeClr val="accent2">
                  <a:lumMod val="76000"/>
                </a:schemeClr>
              </a:solidFill>
            </a:endParaRPr>
          </a:p>
        </p:txBody>
      </p:sp>
      <p:pic>
        <p:nvPicPr>
          <p:cNvPr id="5" name="Graphic 4" descr="Bar chart with solid fill">
            <a:extLst>
              <a:ext uri="{FF2B5EF4-FFF2-40B4-BE49-F238E27FC236}">
                <a16:creationId xmlns:a16="http://schemas.microsoft.com/office/drawing/2014/main" id="{3FA9FDE4-0B71-F386-8E21-29203EA432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2127" y="1115585"/>
            <a:ext cx="352194" cy="338255"/>
          </a:xfrm>
          <a:prstGeom prst="rect">
            <a:avLst/>
          </a:prstGeom>
        </p:spPr>
      </p:pic>
      <p:pic>
        <p:nvPicPr>
          <p:cNvPr id="7" name="Picture 6" descr="A graph of an average ev vehicle&#10;&#10;AI-generated content may be incorrect.">
            <a:extLst>
              <a:ext uri="{FF2B5EF4-FFF2-40B4-BE49-F238E27FC236}">
                <a16:creationId xmlns:a16="http://schemas.microsoft.com/office/drawing/2014/main" id="{191FED71-DD43-567E-A8F1-2AD6A3638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19" y="1235228"/>
            <a:ext cx="4963803" cy="32949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32400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D435828-18EF-AB9B-2E6B-3D64E7447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>
            <a:extLst>
              <a:ext uri="{FF2B5EF4-FFF2-40B4-BE49-F238E27FC236}">
                <a16:creationId xmlns:a16="http://schemas.microsoft.com/office/drawing/2014/main" id="{78A81EBC-7B9F-9F5D-9030-D5D42EED84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32314C-9D5B-60C7-AC22-9056270E69C8}"/>
              </a:ext>
            </a:extLst>
          </p:cNvPr>
          <p:cNvSpPr txBox="1"/>
          <p:nvPr/>
        </p:nvSpPr>
        <p:spPr>
          <a:xfrm>
            <a:off x="341879" y="387123"/>
            <a:ext cx="5800725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1C4553"/>
                </a:solidFill>
                <a:latin typeface="Century Gothic"/>
                <a:ea typeface="Segoe UI"/>
                <a:cs typeface="Segoe UI"/>
              </a:rPr>
              <a:t>2) </a:t>
            </a:r>
            <a:r>
              <a:rPr lang="en-US" sz="2400" dirty="0">
                <a:solidFill>
                  <a:srgbClr val="1C4553"/>
                </a:solidFill>
                <a:latin typeface="Century Gothic"/>
                <a:cs typeface="Segoe UI"/>
              </a:rPr>
              <a:t>BEV vs PHEV: which is winning?</a:t>
            </a:r>
          </a:p>
          <a:p>
            <a:pPr algn="l" rtl="0"/>
            <a:r>
              <a:rPr lang="en-US" sz="1400" b="0" i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0BFEF8-6145-708C-CACC-A62E2EF013BA}"/>
              </a:ext>
            </a:extLst>
          </p:cNvPr>
          <p:cNvSpPr/>
          <p:nvPr/>
        </p:nvSpPr>
        <p:spPr>
          <a:xfrm>
            <a:off x="5673497" y="1116922"/>
            <a:ext cx="2727650" cy="3760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2F665-6B3B-087B-5939-C6A102600080}"/>
              </a:ext>
            </a:extLst>
          </p:cNvPr>
          <p:cNvSpPr txBox="1"/>
          <p:nvPr/>
        </p:nvSpPr>
        <p:spPr>
          <a:xfrm>
            <a:off x="5790735" y="1638533"/>
            <a:ext cx="2611246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BEV is winning — Battery </a:t>
            </a: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Electric Vehicles</a:t>
            </a: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consistently outsell PHEVs from 2015 onward</a:t>
            </a:r>
          </a:p>
          <a:p>
            <a:pPr marL="171450" indent="-171450">
              <a:buFont typeface="Wingdings"/>
              <a:buChar char="Ø"/>
            </a:pP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The gap widens sharply after 2020, with BEV growing 3× faster than PHEV</a:t>
            </a:r>
          </a:p>
          <a:p>
            <a:pPr marL="171450" indent="-171450">
              <a:buFont typeface="Wingdings"/>
              <a:buChar char="Ø"/>
            </a:pP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PHEV growth has flattened, suggesting consumers are moving to fully electric rather than hybrid</a:t>
            </a:r>
          </a:p>
          <a:p>
            <a:pPr marL="171450" indent="-171450">
              <a:buFont typeface="Wingdings"/>
              <a:buChar char="Ø"/>
            </a:pP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By 2025, BEV accounts for the majority of all new EV sales globally</a:t>
            </a: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F3A47D-A909-C0D4-C864-77866DAAF834}"/>
              </a:ext>
            </a:extLst>
          </p:cNvPr>
          <p:cNvSpPr txBox="1"/>
          <p:nvPr/>
        </p:nvSpPr>
        <p:spPr>
          <a:xfrm>
            <a:off x="6024313" y="1185854"/>
            <a:ext cx="160734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2">
                    <a:lumMod val="76000"/>
                  </a:schemeClr>
                </a:solidFill>
              </a:rPr>
              <a:t> Key Insights</a:t>
            </a:r>
            <a:endParaRPr lang="en-US" dirty="0">
              <a:solidFill>
                <a:schemeClr val="accent2">
                  <a:lumMod val="76000"/>
                </a:schemeClr>
              </a:solidFill>
            </a:endParaRPr>
          </a:p>
        </p:txBody>
      </p:sp>
      <p:pic>
        <p:nvPicPr>
          <p:cNvPr id="5" name="Graphic 4" descr="Bar chart with solid fill">
            <a:extLst>
              <a:ext uri="{FF2B5EF4-FFF2-40B4-BE49-F238E27FC236}">
                <a16:creationId xmlns:a16="http://schemas.microsoft.com/office/drawing/2014/main" id="{28718741-48C7-F7A2-C16D-23DFD1840E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2127" y="1115585"/>
            <a:ext cx="352194" cy="338255"/>
          </a:xfrm>
          <a:prstGeom prst="rect">
            <a:avLst/>
          </a:prstGeom>
        </p:spPr>
      </p:pic>
      <p:pic>
        <p:nvPicPr>
          <p:cNvPr id="7" name="Picture 6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899E91B8-5DD6-5376-6B57-B91C940B4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03" y="1214436"/>
            <a:ext cx="4909146" cy="33432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70460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3A6EC6A-D0B3-E95F-9CB2-3D1D1134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>
            <a:extLst>
              <a:ext uri="{FF2B5EF4-FFF2-40B4-BE49-F238E27FC236}">
                <a16:creationId xmlns:a16="http://schemas.microsoft.com/office/drawing/2014/main" id="{D269C0EB-820D-E9A8-48AC-9EFD1495CA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E6E9B4-3072-27F9-8C49-B19310775307}"/>
              </a:ext>
            </a:extLst>
          </p:cNvPr>
          <p:cNvSpPr txBox="1"/>
          <p:nvPr/>
        </p:nvSpPr>
        <p:spPr>
          <a:xfrm>
            <a:off x="265854" y="346139"/>
            <a:ext cx="4891830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1C4553"/>
                </a:solidFill>
                <a:latin typeface="Century Gothic"/>
                <a:cs typeface="Segoe UI"/>
              </a:rPr>
              <a:t>3)Vehicle Type Composition of </a:t>
            </a:r>
            <a:r>
              <a:rPr lang="en-US" sz="2400" dirty="0">
                <a:solidFill>
                  <a:srgbClr val="1C4553"/>
                </a:solidFill>
                <a:latin typeface="Century Gothic"/>
                <a:cs typeface="Segoe UI"/>
              </a:rPr>
              <a:t>Top EV Countries (2025</a:t>
            </a:r>
          </a:p>
          <a:p>
            <a:pPr algn="l" rtl="0"/>
            <a:r>
              <a:rPr lang="en-US" sz="1400" b="0" i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421B9E-3D90-381B-5954-ED97B95401E4}"/>
              </a:ext>
            </a:extLst>
          </p:cNvPr>
          <p:cNvSpPr/>
          <p:nvPr/>
        </p:nvSpPr>
        <p:spPr>
          <a:xfrm>
            <a:off x="5735410" y="975926"/>
            <a:ext cx="2769594" cy="40616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A8BB84-E69E-8B8A-19B4-16E9CAC618CE}"/>
              </a:ext>
            </a:extLst>
          </p:cNvPr>
          <p:cNvSpPr txBox="1"/>
          <p:nvPr/>
        </p:nvSpPr>
        <p:spPr>
          <a:xfrm>
            <a:off x="5733585" y="1609958"/>
            <a:ext cx="2611246" cy="3631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Cars dominate in Western countries (USA, Germany, France, UK) — near 100% of EV sales</a:t>
            </a:r>
            <a:endParaRPr lang="en-US"/>
          </a:p>
          <a:p>
            <a:pPr marL="171450" indent="-171450">
              <a:buFont typeface="Wingdings"/>
              <a:buChar char="Ø"/>
            </a:pP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India is unique — heavily dominated by 2 &amp; 3-wheelers, reflecting local transport patterns</a:t>
            </a:r>
          </a:p>
          <a:p>
            <a:pPr marL="171450" indent="-171450">
              <a:buFont typeface="Wingdings"/>
              <a:buChar char="Ø"/>
            </a:pP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China has the most diversified mix — cars, 2-wheelers, and buses all present</a:t>
            </a:r>
          </a:p>
          <a:p>
            <a:pPr marL="171450" indent="-171450">
              <a:buFont typeface="Wingdings"/>
              <a:buChar char="Ø"/>
            </a:pP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Vietnam shows a strong 2-wheeler share, consistent with Southeast Asian mobility culture</a:t>
            </a:r>
          </a:p>
          <a:p>
            <a:pPr marL="171450" indent="-171450">
              <a:buFont typeface="Wingdings"/>
              <a:buChar char="Ø"/>
            </a:pP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This reveals that "EV" means very different things in different market</a:t>
            </a:r>
          </a:p>
          <a:p>
            <a:pPr algn="ctr"/>
            <a:endParaRPr lang="en-US">
              <a:ea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178275-D7CD-7F06-BA30-1127F997A39A}"/>
              </a:ext>
            </a:extLst>
          </p:cNvPr>
          <p:cNvSpPr txBox="1"/>
          <p:nvPr/>
        </p:nvSpPr>
        <p:spPr>
          <a:xfrm>
            <a:off x="6024313" y="1185854"/>
            <a:ext cx="160734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2">
                    <a:lumMod val="76000"/>
                  </a:schemeClr>
                </a:solidFill>
              </a:rPr>
              <a:t> Key Insights</a:t>
            </a:r>
            <a:endParaRPr lang="en-US" dirty="0">
              <a:solidFill>
                <a:schemeClr val="accent2">
                  <a:lumMod val="76000"/>
                </a:schemeClr>
              </a:solidFill>
            </a:endParaRPr>
          </a:p>
        </p:txBody>
      </p:sp>
      <p:pic>
        <p:nvPicPr>
          <p:cNvPr id="5" name="Graphic 4" descr="Bar chart with solid fill">
            <a:extLst>
              <a:ext uri="{FF2B5EF4-FFF2-40B4-BE49-F238E27FC236}">
                <a16:creationId xmlns:a16="http://schemas.microsoft.com/office/drawing/2014/main" id="{A7F8BF72-A5E6-1A9A-9B12-C708E77C3F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2127" y="1115585"/>
            <a:ext cx="352194" cy="3382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524F6C-4940-4512-E96E-2D9FA58AD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63" y="1647126"/>
            <a:ext cx="4894859" cy="31146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76301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95C8BB55-D21F-F6AA-B6CA-57832916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>
            <a:extLst>
              <a:ext uri="{FF2B5EF4-FFF2-40B4-BE49-F238E27FC236}">
                <a16:creationId xmlns:a16="http://schemas.microsoft.com/office/drawing/2014/main" id="{12966CF6-2480-8AB0-A3C5-5FA28D5DE4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75EF7-55F0-EA29-40B0-C484D9E9AE50}"/>
              </a:ext>
            </a:extLst>
          </p:cNvPr>
          <p:cNvSpPr txBox="1"/>
          <p:nvPr/>
        </p:nvSpPr>
        <p:spPr>
          <a:xfrm>
            <a:off x="213292" y="296636"/>
            <a:ext cx="6396037" cy="12523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1C4553"/>
                </a:solidFill>
                <a:latin typeface="Century Gothic"/>
                <a:cs typeface="Segoe UI"/>
              </a:rPr>
              <a:t>4)Public Charging Points vs EV Stock per Country (2025)</a:t>
            </a:r>
          </a:p>
          <a:p>
            <a:pPr algn="l" rtl="0"/>
            <a:r>
              <a:rPr lang="en-US" sz="1400" b="0" i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7CFD9A-8D58-5CFB-81C8-91AAE1167C47}"/>
              </a:ext>
            </a:extLst>
          </p:cNvPr>
          <p:cNvSpPr/>
          <p:nvPr/>
        </p:nvSpPr>
        <p:spPr>
          <a:xfrm>
            <a:off x="5730647" y="1007384"/>
            <a:ext cx="2727650" cy="3760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67B704-BDF1-2212-26E1-98450A18AADA}"/>
              </a:ext>
            </a:extLst>
          </p:cNvPr>
          <p:cNvSpPr txBox="1"/>
          <p:nvPr/>
        </p:nvSpPr>
        <p:spPr>
          <a:xfrm>
            <a:off x="5728822" y="1548045"/>
            <a:ext cx="2611246" cy="34470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Wingdings"/>
              <a:buChar char="Ø"/>
            </a:pP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Strong positive correlation: countries with more EVs have more chargers — infrastructure is directly </a:t>
            </a:r>
            <a:r>
              <a:rPr lang="en-US" sz="1200">
                <a:solidFill>
                  <a:schemeClr val="tx1"/>
                </a:solidFill>
                <a:ea typeface="Calibri"/>
              </a:rPr>
              <a:t>proportional</a:t>
            </a:r>
            <a:endParaRPr lang="en-US" dirty="0" err="1">
              <a:solidFill>
                <a:schemeClr val="tx1"/>
              </a:solidFill>
            </a:endParaRPr>
          </a:p>
          <a:p>
            <a:pPr marL="171450" indent="-171450">
              <a:buFont typeface="Wingdings"/>
              <a:buChar char="Ø"/>
            </a:pPr>
            <a:endParaRPr lang="en-US" sz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China is outliers at the top right — massive stock AND massive charging networks</a:t>
            </a:r>
          </a:p>
          <a:p>
            <a:pPr marL="171450" indent="-171450">
              <a:buFont typeface="Wingdings"/>
              <a:buChar char="Ø"/>
            </a:pPr>
            <a:endParaRPr lang="en-US" sz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Several European countries show high charger density relative to their EV stock — better infrastructure ratio</a:t>
            </a:r>
          </a:p>
          <a:p>
            <a:pPr marL="171450" indent="-171450">
              <a:buFont typeface="Wingdings"/>
              <a:buChar char="Ø"/>
            </a:pP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Some countries fall below the trend line — charging infrastructure lagging </a:t>
            </a: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behind EV growth</a:t>
            </a: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5C7E78-EFA4-CBF6-0230-33D9E6A8552C}"/>
              </a:ext>
            </a:extLst>
          </p:cNvPr>
          <p:cNvSpPr txBox="1"/>
          <p:nvPr/>
        </p:nvSpPr>
        <p:spPr>
          <a:xfrm>
            <a:off x="6024313" y="1185854"/>
            <a:ext cx="160734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2">
                    <a:lumMod val="76000"/>
                  </a:schemeClr>
                </a:solidFill>
              </a:rPr>
              <a:t> Key Insights</a:t>
            </a:r>
            <a:endParaRPr lang="en-US" dirty="0">
              <a:solidFill>
                <a:schemeClr val="accent2">
                  <a:lumMod val="76000"/>
                </a:schemeClr>
              </a:solidFill>
            </a:endParaRPr>
          </a:p>
        </p:txBody>
      </p:sp>
      <p:pic>
        <p:nvPicPr>
          <p:cNvPr id="5" name="Graphic 4" descr="Bar chart with solid fill">
            <a:extLst>
              <a:ext uri="{FF2B5EF4-FFF2-40B4-BE49-F238E27FC236}">
                <a16:creationId xmlns:a16="http://schemas.microsoft.com/office/drawing/2014/main" id="{D6086461-3542-54F1-CEBA-FD7C7C2267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2127" y="1115585"/>
            <a:ext cx="352194" cy="3382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A94ECD-0497-2DA3-E610-385F705B0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23" y="1271587"/>
            <a:ext cx="5374477" cy="32289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67064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89A4367D-BE55-86E4-C387-2F98F137B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>
            <a:extLst>
              <a:ext uri="{FF2B5EF4-FFF2-40B4-BE49-F238E27FC236}">
                <a16:creationId xmlns:a16="http://schemas.microsoft.com/office/drawing/2014/main" id="{EF42EB62-F9F6-D130-9835-2EF9AE0326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EE9E97-AACD-6EC2-4073-8E8FFA0B4B71}"/>
              </a:ext>
            </a:extLst>
          </p:cNvPr>
          <p:cNvSpPr txBox="1"/>
          <p:nvPr/>
        </p:nvSpPr>
        <p:spPr>
          <a:xfrm>
            <a:off x="265854" y="346139"/>
            <a:ext cx="6354660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1C4553"/>
                </a:solidFill>
                <a:latin typeface="Century Gothic"/>
                <a:cs typeface="Segoe UI"/>
              </a:rPr>
              <a:t>5)EV Stock Growth: 2025 Historical vs 2035 Projected (STEPS)</a:t>
            </a:r>
            <a:endParaRPr lang="en-US" sz="2400" dirty="0">
              <a:solidFill>
                <a:srgbClr val="1C4553"/>
              </a:solidFill>
              <a:latin typeface="Century Gothic"/>
              <a:cs typeface="Segoe UI"/>
            </a:endParaRPr>
          </a:p>
          <a:p>
            <a:pPr algn="l" rtl="0"/>
            <a:r>
              <a:rPr lang="en-US" sz="2400">
                <a:solidFill>
                  <a:srgbClr val="1C4553"/>
                </a:solidFill>
                <a:latin typeface="Century Gothic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823DD7-18A0-BD55-7666-3F88AD5BC585}"/>
              </a:ext>
            </a:extLst>
          </p:cNvPr>
          <p:cNvSpPr/>
          <p:nvPr/>
        </p:nvSpPr>
        <p:spPr>
          <a:xfrm>
            <a:off x="5673497" y="816884"/>
            <a:ext cx="2789562" cy="42228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B6D0BA-755F-F6B0-4E17-D604D766108B}"/>
              </a:ext>
            </a:extLst>
          </p:cNvPr>
          <p:cNvSpPr txBox="1"/>
          <p:nvPr/>
        </p:nvSpPr>
        <p:spPr>
          <a:xfrm>
            <a:off x="5733585" y="1209908"/>
            <a:ext cx="2611246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India leads in growth rate — projected +1016% increase from 2025 to 2035</a:t>
            </a:r>
            <a:endParaRPr lang="en-US"/>
          </a:p>
          <a:p>
            <a:pPr marL="171450" indent="-171450">
              <a:buFont typeface="Wingdings"/>
              <a:buChar char="Ø"/>
            </a:pP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Korea and Japan follow with +826% and +684% respectively — late starters with rapid acceleration ahead</a:t>
            </a:r>
          </a:p>
          <a:p>
            <a:pPr marL="171450" indent="-171450">
              <a:buFont typeface="Wingdings"/>
              <a:buChar char="Ø"/>
            </a:pP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USA projected +270% — strong but from a larger 2025 base</a:t>
            </a:r>
          </a:p>
          <a:p>
            <a:pPr marL="171450" indent="-171450">
              <a:buFont typeface="Wingdings"/>
              <a:buChar char="Ø"/>
            </a:pP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China +230% — slowest growth rate but still the largest absolute volume globally</a:t>
            </a: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countries with small current sales show massive future percentage growth, while mature markets show smaller percentage jumps despite adding far more physical cars.</a:t>
            </a: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DF451-0461-C8DF-E015-95B750098D1F}"/>
              </a:ext>
            </a:extLst>
          </p:cNvPr>
          <p:cNvSpPr txBox="1"/>
          <p:nvPr/>
        </p:nvSpPr>
        <p:spPr>
          <a:xfrm>
            <a:off x="6090988" y="900104"/>
            <a:ext cx="160734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2">
                    <a:lumMod val="76000"/>
                  </a:schemeClr>
                </a:solidFill>
              </a:rPr>
              <a:t> Key Insights</a:t>
            </a:r>
            <a:endParaRPr lang="en-US" dirty="0">
              <a:solidFill>
                <a:schemeClr val="accent2">
                  <a:lumMod val="76000"/>
                </a:schemeClr>
              </a:solidFill>
            </a:endParaRPr>
          </a:p>
        </p:txBody>
      </p:sp>
      <p:pic>
        <p:nvPicPr>
          <p:cNvPr id="5" name="Graphic 4" descr="Bar chart with solid fill">
            <a:extLst>
              <a:ext uri="{FF2B5EF4-FFF2-40B4-BE49-F238E27FC236}">
                <a16:creationId xmlns:a16="http://schemas.microsoft.com/office/drawing/2014/main" id="{661244E5-7F51-8A03-C7C1-5F45EB7722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0227" y="872698"/>
            <a:ext cx="352194" cy="338255"/>
          </a:xfrm>
          <a:prstGeom prst="rect">
            <a:avLst/>
          </a:prstGeom>
        </p:spPr>
      </p:pic>
      <p:pic>
        <p:nvPicPr>
          <p:cNvPr id="7" name="Picture 6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B625BAAC-15C0-4D3F-7F8F-36ABF235B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558" y="1342238"/>
            <a:ext cx="5090751" cy="32612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86807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75611E6A-1A27-4B91-EE72-59FE370C0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>
            <a:extLst>
              <a:ext uri="{FF2B5EF4-FFF2-40B4-BE49-F238E27FC236}">
                <a16:creationId xmlns:a16="http://schemas.microsoft.com/office/drawing/2014/main" id="{322CBEA0-9972-B3F8-1E61-4DE4FC020C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AAAFB7-7F89-FA2E-6C5E-0412841EC163}"/>
              </a:ext>
            </a:extLst>
          </p:cNvPr>
          <p:cNvSpPr txBox="1"/>
          <p:nvPr/>
        </p:nvSpPr>
        <p:spPr>
          <a:xfrm>
            <a:off x="265854" y="346139"/>
            <a:ext cx="635466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1C4553"/>
                </a:solidFill>
                <a:latin typeface="Century Gothic"/>
                <a:cs typeface="Segoe UI"/>
              </a:rPr>
              <a:t>6)2025 Car Sales: Total Market vs </a:t>
            </a:r>
            <a:r>
              <a:rPr lang="en-US" sz="2400">
                <a:solidFill>
                  <a:srgbClr val="1C4553"/>
                </a:solidFill>
                <a:latin typeface="Century Gothic"/>
                <a:cs typeface="Segoe UI"/>
              </a:rPr>
              <a:t>EV</a:t>
            </a:r>
            <a:r>
              <a:rPr lang="en-US" sz="2400" dirty="0">
                <a:solidFill>
                  <a:srgbClr val="1C4553"/>
                </a:solidFill>
                <a:latin typeface="Century Gothic"/>
                <a:cs typeface="Segoe UI"/>
              </a:rPr>
              <a:t> Share </a:t>
            </a:r>
          </a:p>
          <a:p>
            <a:pPr algn="l" rtl="0"/>
            <a:r>
              <a:rPr lang="en-US" sz="2400">
                <a:solidFill>
                  <a:srgbClr val="1C4553"/>
                </a:solidFill>
                <a:latin typeface="Century Gothic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64921F-897F-BE8C-DB2D-BF7054CE41D1}"/>
              </a:ext>
            </a:extLst>
          </p:cNvPr>
          <p:cNvSpPr/>
          <p:nvPr/>
        </p:nvSpPr>
        <p:spPr>
          <a:xfrm>
            <a:off x="5768747" y="902609"/>
            <a:ext cx="2780037" cy="40799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29C7DA-CC63-49F5-C200-E2B7FF84AAE7}"/>
              </a:ext>
            </a:extLst>
          </p:cNvPr>
          <p:cNvSpPr txBox="1"/>
          <p:nvPr/>
        </p:nvSpPr>
        <p:spPr>
          <a:xfrm>
            <a:off x="5852647" y="1286108"/>
            <a:ext cx="2611246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China leads EV market share — EVs are the highest proportion of total car sales</a:t>
            </a:r>
          </a:p>
          <a:p>
            <a:pPr marL="171450" indent="-171450">
              <a:buFont typeface="Wingdings"/>
              <a:buChar char="Ø"/>
            </a:pP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Germany has a high EV share despite a smaller total market — strong policy-driven adoption</a:t>
            </a:r>
          </a:p>
          <a:p>
            <a:pPr marL="171450" indent="-171450">
              <a:buFont typeface="Wingdings"/>
              <a:buChar char="Ø"/>
            </a:pP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USA has large total sales </a:t>
            </a: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volume, </a:t>
            </a: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but EV share is still relatively low — large room to grow</a:t>
            </a:r>
          </a:p>
          <a:p>
            <a:pPr marL="171450" indent="-171450">
              <a:buFont typeface="Wingdings"/>
              <a:buChar char="Ø"/>
            </a:pP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India and Japan have the lowest EV share — conventional vehicles still dominate</a:t>
            </a:r>
          </a:p>
          <a:p>
            <a:pPr marL="171450" indent="-171450">
              <a:buFont typeface="Wingdings"/>
              <a:buChar char="Ø"/>
            </a:pPr>
            <a:endParaRPr lang="en-US" sz="12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Market share % is a better measure of transition progress than raw sales volume alone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E36E93-3769-1EB0-AF67-40EB472723FF}"/>
              </a:ext>
            </a:extLst>
          </p:cNvPr>
          <p:cNvSpPr txBox="1"/>
          <p:nvPr/>
        </p:nvSpPr>
        <p:spPr>
          <a:xfrm>
            <a:off x="6171950" y="962017"/>
            <a:ext cx="160734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2">
                    <a:lumMod val="76000"/>
                  </a:schemeClr>
                </a:solidFill>
              </a:rPr>
              <a:t> Key Insights</a:t>
            </a:r>
            <a:endParaRPr lang="en-US" dirty="0">
              <a:solidFill>
                <a:schemeClr val="accent2">
                  <a:lumMod val="76000"/>
                </a:schemeClr>
              </a:solidFill>
            </a:endParaRPr>
          </a:p>
        </p:txBody>
      </p:sp>
      <p:pic>
        <p:nvPicPr>
          <p:cNvPr id="5" name="Graphic 4" descr="Bar chart with solid fill">
            <a:extLst>
              <a:ext uri="{FF2B5EF4-FFF2-40B4-BE49-F238E27FC236}">
                <a16:creationId xmlns:a16="http://schemas.microsoft.com/office/drawing/2014/main" id="{5F04D6D1-211A-4FAD-2B18-F9BAE90604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4052" y="901273"/>
            <a:ext cx="352194" cy="338255"/>
          </a:xfrm>
          <a:prstGeom prst="rect">
            <a:avLst/>
          </a:prstGeom>
        </p:spPr>
      </p:pic>
      <p:pic>
        <p:nvPicPr>
          <p:cNvPr id="8" name="Picture 7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F0BE639D-ED88-CE8E-5CA1-ECEADE37D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22" y="1114425"/>
            <a:ext cx="5271443" cy="33194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91149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C4EA9A72-EAAE-ADCD-9CBC-6D6B3C48E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>
            <a:extLst>
              <a:ext uri="{FF2B5EF4-FFF2-40B4-BE49-F238E27FC236}">
                <a16:creationId xmlns:a16="http://schemas.microsoft.com/office/drawing/2014/main" id="{6207E842-57D3-F85E-2A23-C7AC84B619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8AB1E2-FC81-1532-8DF0-7E9117F949FB}"/>
              </a:ext>
            </a:extLst>
          </p:cNvPr>
          <p:cNvSpPr txBox="1"/>
          <p:nvPr/>
        </p:nvSpPr>
        <p:spPr>
          <a:xfrm>
            <a:off x="561129" y="317564"/>
            <a:ext cx="635466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1C4553"/>
                </a:solidFill>
                <a:latin typeface="Century Gothic"/>
                <a:cs typeface="Segoe UI"/>
              </a:rPr>
              <a:t>Ethical Considerations &amp; Limitations</a:t>
            </a:r>
            <a:r>
              <a:rPr lang="en-US" sz="2400" dirty="0">
                <a:solidFill>
                  <a:srgbClr val="1C4553"/>
                </a:solidFill>
                <a:latin typeface="Century Gothic"/>
                <a:cs typeface="Segoe UI"/>
              </a:rPr>
              <a:t> </a:t>
            </a:r>
          </a:p>
          <a:p>
            <a:pPr algn="l" rtl="0"/>
            <a:r>
              <a:rPr lang="en-US" sz="2400">
                <a:solidFill>
                  <a:srgbClr val="1C4553"/>
                </a:solidFill>
                <a:latin typeface="Century Gothic"/>
                <a:cs typeface="Segoe UI"/>
              </a:rPr>
              <a:t>​</a:t>
            </a:r>
            <a:endParaRPr lang="en-US" sz="1600">
              <a:solidFill>
                <a:srgbClr val="1C4553"/>
              </a:solidFill>
              <a:latin typeface="Century Gothic"/>
              <a:cs typeface="Segoe UI"/>
            </a:endParaRP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EC267-E8A1-7A55-3756-C5F8EB629AE0}"/>
              </a:ext>
            </a:extLst>
          </p:cNvPr>
          <p:cNvSpPr txBox="1"/>
          <p:nvPr/>
        </p:nvSpPr>
        <p:spPr>
          <a:xfrm>
            <a:off x="559046" y="1144572"/>
            <a:ext cx="348143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1C4553"/>
                </a:solidFill>
                <a:latin typeface="Century Gothic"/>
                <a:cs typeface="Segoe UI"/>
              </a:rPr>
              <a:t>Ethical</a:t>
            </a:r>
            <a:r>
              <a:rPr lang="en-US" b="1"/>
              <a:t> </a:t>
            </a:r>
            <a:r>
              <a:rPr lang="en-US" sz="1600">
                <a:solidFill>
                  <a:srgbClr val="1C4553"/>
                </a:solidFill>
                <a:latin typeface="Century Gothic"/>
                <a:cs typeface="Segoe UI"/>
              </a:rPr>
              <a:t>Considerations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BAB80C-BAC9-4564-61C0-3FC64B0CC224}"/>
              </a:ext>
            </a:extLst>
          </p:cNvPr>
          <p:cNvSpPr txBox="1"/>
          <p:nvPr/>
        </p:nvSpPr>
        <p:spPr>
          <a:xfrm>
            <a:off x="557736" y="1481705"/>
            <a:ext cx="650671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Data is sourced from IEA — a credible intergovernmental body, but projections </a:t>
            </a: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reflect policy assumptions .</a:t>
            </a:r>
          </a:p>
          <a:p>
            <a:pPr marL="285750" indent="-285750">
              <a:buFont typeface="Wingdings"/>
              <a:buChar char="Ø"/>
            </a:pP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Countries with weaker data infrastructure may be underrepresented — </a:t>
            </a: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Africa, Middle</a:t>
            </a: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East data is sparse</a:t>
            </a:r>
          </a:p>
          <a:p>
            <a:pPr marL="285750" indent="-2857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Presenting China's dominance without context could mislead — population and manufacturing scale must be considered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7CFF08-2C18-C71B-C08F-39FA56528641}"/>
              </a:ext>
            </a:extLst>
          </p:cNvPr>
          <p:cNvSpPr txBox="1"/>
          <p:nvPr/>
        </p:nvSpPr>
        <p:spPr>
          <a:xfrm>
            <a:off x="620958" y="3130535"/>
            <a:ext cx="348143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1C4553"/>
                </a:solidFill>
                <a:latin typeface="Century Gothic"/>
                <a:cs typeface="Segoe UI"/>
              </a:rPr>
              <a:t>Limitations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C2065D-9212-6C3E-BF06-2F7762EC53EE}"/>
              </a:ext>
            </a:extLst>
          </p:cNvPr>
          <p:cNvSpPr txBox="1"/>
          <p:nvPr/>
        </p:nvSpPr>
        <p:spPr>
          <a:xfrm>
            <a:off x="557736" y="3515291"/>
            <a:ext cx="65067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Dataset covers only 50+ countries — many developing nations are missing</a:t>
            </a:r>
          </a:p>
          <a:p>
            <a:pPr marL="285750" indent="-285750">
              <a:buFont typeface="Wingdings"/>
              <a:buChar char="Ø"/>
            </a:pP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Oil displacement data has gaps (</a:t>
            </a: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Car's data missing 2013–2014), 1078 country name rows missing</a:t>
            </a:r>
          </a:p>
          <a:p>
            <a:pPr marL="285750" indent="-2857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2035 projections assume policy targets are met — real outcomes may differ significantly</a:t>
            </a:r>
          </a:p>
        </p:txBody>
      </p:sp>
    </p:spTree>
    <p:extLst>
      <p:ext uri="{BB962C8B-B14F-4D97-AF65-F5344CB8AC3E}">
        <p14:creationId xmlns:p14="http://schemas.microsoft.com/office/powerpoint/2010/main" val="2624035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9567DAC3-06A8-4813-D84C-873BCD973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>
            <a:extLst>
              <a:ext uri="{FF2B5EF4-FFF2-40B4-BE49-F238E27FC236}">
                <a16:creationId xmlns:a16="http://schemas.microsoft.com/office/drawing/2014/main" id="{3049A18A-FB43-1287-C55D-D2A1922C0F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4904AB-5722-8CE9-37CF-F32A6825F897}"/>
              </a:ext>
            </a:extLst>
          </p:cNvPr>
          <p:cNvSpPr txBox="1"/>
          <p:nvPr/>
        </p:nvSpPr>
        <p:spPr>
          <a:xfrm>
            <a:off x="265854" y="346139"/>
            <a:ext cx="635466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1C4553"/>
                </a:solidFill>
                <a:latin typeface="Century Gothic"/>
                <a:cs typeface="Segoe UI"/>
              </a:rPr>
              <a:t>6)Conclusion &amp; Future Works </a:t>
            </a:r>
          </a:p>
          <a:p>
            <a:pPr algn="l" rtl="0"/>
            <a:r>
              <a:rPr lang="en-US" sz="2400">
                <a:solidFill>
                  <a:srgbClr val="1C4553"/>
                </a:solidFill>
                <a:latin typeface="Century Gothic"/>
                <a:cs typeface="Segoe UI"/>
              </a:rPr>
              <a:t>​</a:t>
            </a:r>
            <a:endParaRPr lang="en-US" sz="1600">
              <a:solidFill>
                <a:srgbClr val="1C4553"/>
              </a:solidFill>
              <a:latin typeface="Century Gothic"/>
              <a:cs typeface="Segoe UI"/>
            </a:endParaRP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020040-1EB2-A9CE-8643-955257B2F7D3}"/>
              </a:ext>
            </a:extLst>
          </p:cNvPr>
          <p:cNvSpPr txBox="1"/>
          <p:nvPr/>
        </p:nvSpPr>
        <p:spPr>
          <a:xfrm>
            <a:off x="559046" y="1144572"/>
            <a:ext cx="348143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1C4553"/>
                </a:solidFill>
                <a:latin typeface="Century Gothic"/>
                <a:cs typeface="Segoe UI"/>
              </a:rPr>
              <a:t>Key</a:t>
            </a:r>
            <a:r>
              <a:rPr lang="en-US" sz="1600">
                <a:solidFill>
                  <a:srgbClr val="1C4553"/>
                </a:solidFill>
              </a:rPr>
              <a:t> </a:t>
            </a:r>
            <a:r>
              <a:rPr lang="en-US" sz="1600">
                <a:solidFill>
                  <a:srgbClr val="1C4553"/>
                </a:solidFill>
                <a:latin typeface="Century Gothic"/>
                <a:cs typeface="Segoe UI"/>
              </a:rPr>
              <a:t>Findings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CA0B34-7F3C-5136-982B-42A71095DE64}"/>
              </a:ext>
            </a:extLst>
          </p:cNvPr>
          <p:cNvSpPr txBox="1"/>
          <p:nvPr/>
        </p:nvSpPr>
        <p:spPr>
          <a:xfrm>
            <a:off x="557736" y="1481705"/>
            <a:ext cx="650671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Global EV adoption is real, accelerating, and irreversible — 167.4M EVs on road in 2025</a:t>
            </a:r>
          </a:p>
          <a:p>
            <a:pPr marL="285750" indent="-285750">
              <a:buFont typeface="Wingdings"/>
              <a:buChar char="Ø"/>
            </a:pP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China is the undisputed leader in both volume and growth;  in </a:t>
            </a: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growth </a:t>
            </a: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Europe follows steadily</a:t>
            </a:r>
          </a:p>
          <a:p>
            <a:pPr marL="285750" indent="-2857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BEVs are winning over PHEVs — the future is fully electric</a:t>
            </a:r>
          </a:p>
          <a:p>
            <a:pPr marL="285750" indent="-2857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Infrastructure is keeping pace with adoption in leading markets.</a:t>
            </a:r>
          </a:p>
          <a:p>
            <a:pPr marL="285750" indent="-285750">
              <a:buFont typeface="Wingdings"/>
              <a:buChar char="Ø"/>
            </a:pP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Policies directly </a:t>
            </a: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decides</a:t>
            </a: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how fast the transition happens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CCA9AC-D53B-3B5C-B2D4-DB90EB09DCB6}"/>
              </a:ext>
            </a:extLst>
          </p:cNvPr>
          <p:cNvSpPr txBox="1"/>
          <p:nvPr/>
        </p:nvSpPr>
        <p:spPr>
          <a:xfrm>
            <a:off x="620958" y="3130535"/>
            <a:ext cx="348143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1C4553"/>
                </a:solidFill>
                <a:latin typeface="Century Gothic"/>
                <a:cs typeface="Segoe UI"/>
              </a:rPr>
              <a:t>Future 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0C0DBA-2211-D72B-0A5B-1DA8A5B11021}"/>
              </a:ext>
            </a:extLst>
          </p:cNvPr>
          <p:cNvSpPr txBox="1"/>
          <p:nvPr/>
        </p:nvSpPr>
        <p:spPr>
          <a:xfrm>
            <a:off x="557736" y="3515291"/>
            <a:ext cx="65067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Include CO₂ emissions data to measure actual environmental impact</a:t>
            </a:r>
          </a:p>
          <a:p>
            <a:pPr marL="285750" indent="-285750">
              <a:buFont typeface="Wingdings"/>
              <a:buChar char="Ø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Analyze battery cost  vs sales growth — does price drop drive adoption?</a:t>
            </a:r>
          </a:p>
        </p:txBody>
      </p:sp>
    </p:spTree>
    <p:extLst>
      <p:ext uri="{BB962C8B-B14F-4D97-AF65-F5344CB8AC3E}">
        <p14:creationId xmlns:p14="http://schemas.microsoft.com/office/powerpoint/2010/main" val="2366418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69" name="Google Shape;169;p25"/>
          <p:cNvSpPr txBox="1">
            <a:spLocks noGrp="1"/>
          </p:cNvSpPr>
          <p:nvPr>
            <p:ph type="title"/>
          </p:nvPr>
        </p:nvSpPr>
        <p:spPr>
          <a:xfrm>
            <a:off x="1366800" y="2007000"/>
            <a:ext cx="64104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6500"/>
              <a:t>Thank you!</a:t>
            </a:r>
            <a:endParaRPr sz="6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Simple Light</vt:lpstr>
      <vt:lpstr>PowerPoint Presentation</vt:lpstr>
      <vt:lpstr>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748</cp:revision>
  <dcterms:modified xsi:type="dcterms:W3CDTF">2026-05-31T11:43:14Z</dcterms:modified>
</cp:coreProperties>
</file>